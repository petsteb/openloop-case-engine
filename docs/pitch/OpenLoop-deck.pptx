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0">
                <a:solidFill>
                  <a:srgbClr val="EEF0F3"/>
                </a:solidFill>
                <a:latin typeface="Calibri"/>
              </a:rPr>
              <a:t>Judge: false approvals on 150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False approvals</c:v>
                </c:pt>
              </c:strCache>
            </c:strRef>
          </c:tx>
          <c:dPt>
            <c:idx val="0"/>
            <c:spPr>
              <a:solidFill>
                <a:srgbClr val="EF5B52"/>
              </a:solidFill>
            </c:spPr>
          </c:dPt>
          <c:dPt>
            <c:idx val="1"/>
            <c:spPr>
              <a:solidFill>
                <a:srgbClr val="43B884"/>
              </a:solidFill>
            </c:spPr>
          </c:dPt>
          <c:cat>
            <c:strRef>
              <c:f>Sheet1!$A$2:$A$3</c:f>
              <c:strCache>
                <c:ptCount val="2"/>
                <c:pt idx="0">
                  <c:v>Classifier alone</c:v>
                </c:pt>
                <c:pt idx="1">
                  <c:v>Classifier + similarity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 b="1">
                  <a:solidFill>
                    <a:srgbClr val="EEF0F3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E333D"/>
            </a:solidFill>
          </a:ln>
        </c:spPr>
        <c:txPr>
          <a:bodyPr/>
          <a:lstStyle/>
          <a:p>
            <a:pPr>
              <a:defRPr sz="1200">
                <a:solidFill>
                  <a:srgbClr val="A3AAB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E333D"/>
            </a:solidFill>
          </a:ln>
        </c:spPr>
        <c:txPr>
          <a:bodyPr/>
          <a:lstStyle/>
          <a:p>
            <a:pPr>
              <a:defRPr sz="1200">
                <a:solidFill>
                  <a:srgbClr val="A3AAB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every bank has AI that reads a document; nobody owns the file between documents. OpenLoop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loan or KYB file is weeks of waiting and re-checking, not one task. Raiffeisen itself described an earlier remediation as processed manually. Sources: research/07 (vendor survey), research/01.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fines are public (ANSPDCP 2022 and 2024, research/01). The pattern is a sequence over time, which no single-document check sees. SR-01 and SR-02 encode exactly the corrective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ledger per file; state is a replay of events. Code runs the pipeline; Claude plans behind a gate; the judge settles fuzzy matches; people decide on cards; both apps read the same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video. Each step is one click on the demo toolbar or one analyst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first let Claude plan everything; it skipped checks and took 45-60 s per click. The hybrid measured live: 3.5-13 s per click, zero fallbacks. Every step is logged with its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on 150 labelled pairs: the classifier alone auto-approved 7 wrong matches (e.g. Str. Gării vs Calea Gării at p = 1.0). Requiring the similarity check too gave 0. backend/eval/calibration.json.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SQLite for the demo; in production the same append-only table runs in PostgreSQL on the bank's own servers. Offline mode runs the whole demo with no keys and no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rules are code with rule IDs; the judge only settles fuzzy matches after the hard facts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Volume: Smart Business &gt;100,000 active SME clients (research/01). AMLR periodic refresh from July 2027. Savings stay estimates until a shadow-mode pilot measures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new compared with document-reading AI and chat assistants.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the ask is a measured pilot,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1152144"/>
            <a:ext cx="5102352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548640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16736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00784" y="1097280"/>
            <a:ext cx="109728" cy="109728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84831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68880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52928" y="1097280"/>
            <a:ext cx="109728" cy="109728"/>
          </a:xfrm>
          <a:prstGeom prst="ellipse">
            <a:avLst/>
          </a:prstGeom>
          <a:solidFill>
            <a:srgbClr val="EF5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36976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21024" y="1097280"/>
            <a:ext cx="109728" cy="109728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05072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1097280"/>
            <a:ext cx="109728" cy="109728"/>
          </a:xfrm>
          <a:prstGeom prst="ellipse">
            <a:avLst/>
          </a:prstGeom>
          <a:solidFill>
            <a:srgbClr val="A0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73168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57216" y="1097280"/>
            <a:ext cx="109728" cy="10972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41264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0" b="1" i="0">
                <a:solidFill>
                  <a:srgbClr val="EEF0F3"/>
                </a:solidFill>
                <a:latin typeface="Calibri"/>
              </a:rPr>
              <a:t>OpenLoop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0" i="0">
                <a:solidFill>
                  <a:srgbClr val="EEF0F3"/>
                </a:solidFill>
                <a:latin typeface="Calibri"/>
              </a:rPr>
              <a:t>The AI case agent for bank files that stay open for 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A3AAB5"/>
                </a:solidFill>
                <a:latin typeface="Calibri"/>
              </a:rPr>
              <a:t>Code enforces the rules · Claude plans the next step · people make the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NEXXT AI Hackathon 2026 · Raiffeisen Bank Romania · AI for Operational Efficiency · Petru &amp; Teodor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Back-office work is an open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Documents arrive over days; every one must agree with the others and with the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E8A93C"/>
                </a:solidFill>
                <a:latin typeface="Calibri"/>
              </a:rPr>
              <a:t>95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and about $2,598 per corporate KYC
review (2023 vendor survey)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01168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A08CF7"/>
                </a:solidFill>
                <a:latin typeface="Calibri"/>
              </a:rPr>
              <a:t>30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077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 trade-register certificate stays valid,
then the file must ask for a new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01168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EF5B52"/>
                </a:solidFill>
                <a:latin typeface="Calibri"/>
              </a:rPr>
              <a:t>14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077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to report a beneficial-owner mismatch
(AMLR art. 24, from July 2027)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11064240" cy="150876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53712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800" b="0" i="0">
                <a:solidFill>
                  <a:srgbClr val="EEF0F3"/>
                </a:solidFill>
                <a:latin typeface="Calibri"/>
              </a:rPr>
              <a:t>Today a person chases every missing paper, </a:t>
            </a:r>
            <a:r>
              <a:rPr sz="1800" b="1" i="0">
                <a:solidFill>
                  <a:srgbClr val="EEF0F3"/>
                </a:solidFill>
                <a:latin typeface="Calibri"/>
              </a:rPr>
              <a:t>re-checks</a:t>
            </a:r>
            <a:r>
              <a:rPr sz="1800" b="0" i="0">
                <a:solidFill>
                  <a:srgbClr val="EEF0F3"/>
                </a:solidFill>
                <a:latin typeface="Calibri"/>
              </a:rPr>
              <a:t> every expired certificate and </a:t>
            </a:r>
            <a:r>
              <a:rPr sz="1800" b="1" i="0">
                <a:solidFill>
                  <a:srgbClr val="EEF0F3"/>
                </a:solidFill>
                <a:latin typeface="Calibri"/>
              </a:rPr>
              <a:t>reconciles</a:t>
            </a:r>
            <a:r>
              <a:rPr sz="1800" b="0" i="0">
                <a:solidFill>
                  <a:srgbClr val="EEF0F3"/>
                </a:solidFill>
                <a:latin typeface="Calibri"/>
              </a:rPr>
              <a:t> owners and addresses by hand.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800" b="0" i="1">
                <a:solidFill>
                  <a:srgbClr val="EEF0F3"/>
                </a:solidFill>
                <a:latin typeface="Calibri"/>
              </a:rPr>
              <a:t>“Procesarea desfăşurându-se manual” </a:t>
            </a:r>
            <a:r>
              <a:rPr sz="1400" b="0" i="0">
                <a:solidFill>
                  <a:srgbClr val="A3AAB5"/>
                </a:solidFill>
                <a:latin typeface="Calibri"/>
              </a:rPr>
              <a:t>— Raiffeisen Bank Romania on a 14,000-client remediation (research/01)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The risk is in the sequence, not the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Two real data-protection fines against Raiffeisen Bank Romania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75688"/>
            <a:ext cx="310896" cy="310896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659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E8A93C"/>
                </a:solidFill>
                <a:latin typeface="Calibri"/>
              </a:rPr>
              <a:t>2022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011679"/>
            <a:ext cx="9235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EEF0F3"/>
                </a:solidFill>
                <a:latin typeface="Calibri"/>
              </a:rPr>
              <a:t>Credit-bureau queries without the applicant's signed consent; a client's phone number replaced with an employee's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493008"/>
            <a:ext cx="310896" cy="310896"/>
          </a:xfrm>
          <a:prstGeom prst="ellipse">
            <a:avLst/>
          </a:prstGeom>
          <a:solidFill>
            <a:srgbClr val="EF5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38328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EF5B52"/>
                </a:solidFill>
                <a:latin typeface="Calibri"/>
              </a:rPr>
              <a:t>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429000"/>
            <a:ext cx="9235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EEF0F3"/>
                </a:solidFill>
                <a:latin typeface="Calibri"/>
              </a:rPr>
              <a:t>An employee changed clients' phone and email details, then applied for credit products — all without consent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4632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OpenLoop watches the ledger: </a:t>
            </a:r>
            <a:r>
              <a:rPr sz="1700" b="0" i="0">
                <a:solidFill>
                  <a:srgbClr val="EEF0F3"/>
                </a:solidFill>
                <a:latin typeface="Calibri"/>
              </a:rPr>
              <a:t>SR-01 flags a staff contact change followed by a credit action within 48 h with no client confirmation. SR-02: the client confirms or disputes the change in the portal; a dispute opens a card that can put the file on hold.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OpenLoop in one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One append-only, hash-chained ledger per file — every actor reads it and writes to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965960" cy="23317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286000"/>
            <a:ext cx="201168" cy="20116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Events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documents · emails · portal uploads · staff actions · time passing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32888" y="3218688"/>
            <a:ext cx="283464" cy="0"/>
          </a:xfrm>
          <a:prstGeom prst="line">
            <a:avLst/>
          </a:prstGeom>
          <a:ln w="19050">
            <a:solidFill>
              <a:srgbClr val="A3AA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34640" y="2057400"/>
            <a:ext cx="1965960" cy="23317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63240" y="2286000"/>
            <a:ext cx="201168" cy="201168"/>
          </a:xfrm>
          <a:prstGeom prst="ellipse">
            <a:avLst/>
          </a:prstGeom>
          <a:solidFill>
            <a:srgbClr val="EE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63347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Code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127248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extraction with verbatim quotes · registry lookup · hard rules HR-01…08 · timers and expiry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18888" y="3218688"/>
            <a:ext cx="283464" cy="0"/>
          </a:xfrm>
          <a:prstGeom prst="line">
            <a:avLst/>
          </a:prstGeom>
          <a:ln w="19050">
            <a:solidFill>
              <a:srgbClr val="A3AA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2057400"/>
            <a:ext cx="1965960" cy="23317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49240" y="2286000"/>
            <a:ext cx="201168" cy="201168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63347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5B86F7"/>
                </a:solidFill>
                <a:latin typeface="Calibri"/>
              </a:rPr>
              <a:t>Claude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127248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Opus 5.5 on Amazon Bedrock decides the next step over judgment-only tools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04888" y="3218688"/>
            <a:ext cx="283464" cy="0"/>
          </a:xfrm>
          <a:prstGeom prst="line">
            <a:avLst/>
          </a:prstGeom>
          <a:ln w="19050">
            <a:solidFill>
              <a:srgbClr val="A3AA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0" y="2057400"/>
            <a:ext cx="1965960" cy="23317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35240" y="2286000"/>
            <a:ext cx="201168" cy="201168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263347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8A93C"/>
                </a:solidFill>
                <a:latin typeface="Calibri"/>
              </a:rPr>
              <a:t>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127248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only actions the rules allow can run · approve credit is always DENIED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390888" y="3218688"/>
            <a:ext cx="283464" cy="0"/>
          </a:xfrm>
          <a:prstGeom prst="line">
            <a:avLst/>
          </a:prstGeom>
          <a:ln w="19050">
            <a:solidFill>
              <a:srgbClr val="A3AA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92640" y="2057400"/>
            <a:ext cx="1965960" cy="23317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921240" y="2286000"/>
            <a:ext cx="201168" cy="20116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263347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43B884"/>
                </a:solidFill>
                <a:latin typeface="Calibri"/>
              </a:rPr>
              <a:t>People decide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127248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short decision cards · rulings become precedents and learned checks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54880"/>
            <a:ext cx="5440680" cy="9601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19472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A08CF7"/>
                </a:solidFill>
                <a:latin typeface="Calibri"/>
              </a:rPr>
              <a:t>Judge  </a:t>
            </a:r>
            <a:r>
              <a:rPr sz="1600" b="0" i="0">
                <a:solidFill>
                  <a:srgbClr val="EEF0F3"/>
                </a:solidFill>
                <a:latin typeface="Calibri"/>
              </a:rPr>
              <a:t>Featherless classifier + similarity check — auto-accept only when both agree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54880"/>
            <a:ext cx="5440680" cy="9601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919472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B86F7"/>
                </a:solidFill>
                <a:latin typeface="Calibri"/>
              </a:rPr>
              <a:t>Two screens, one ledger  </a:t>
            </a:r>
            <a:r>
              <a:rPr sz="1600" b="0" i="0">
                <a:solidFill>
                  <a:srgbClr val="EEF0F3"/>
                </a:solidFill>
                <a:latin typeface="Calibri"/>
              </a:rPr>
              <a:t>the bank's work queue and the client portal, each in its own words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One file, start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The bakery's SME loan and KYB file — the demo, in six moments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B86F7"/>
                </a:solidFill>
                <a:latin typeface="Calibri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606040"/>
            <a:ext cx="182880" cy="182880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768096" y="2697480"/>
            <a:ext cx="1627632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Day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691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4 documents arrive; DSCR 1.4 verified; the agent asks for what's 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1965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EF5B52"/>
                </a:solidFill>
                <a:latin typeface="Calibri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2432304" y="2606040"/>
            <a:ext cx="182880" cy="182880"/>
          </a:xfrm>
          <a:prstGeom prst="ellipse">
            <a:avLst/>
          </a:prstGeom>
          <a:solidFill>
            <a:srgbClr val="EF5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651760" y="2697480"/>
            <a:ext cx="1627632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32304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2304" y="3474720"/>
            <a:ext cx="1691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an undeclared 25% owner starts the legal clock; the address is written two ways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965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E8A93C"/>
                </a:solidFill>
                <a:latin typeface="Calibri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4315968" y="2606040"/>
            <a:ext cx="182880" cy="182880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535424" y="2697480"/>
            <a:ext cx="1627632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15968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The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474720"/>
            <a:ext cx="1691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 client email arrives; the agent tries to ask for a new declaration — denied until a person decides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1965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43B884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6199631" y="2606040"/>
            <a:ext cx="182880" cy="182880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419088" y="2697480"/>
            <a:ext cx="1627631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9963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Decided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1" y="3474720"/>
            <a:ext cx="1691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two analyst clicks; corrected documents; the clock is cancelled; file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1965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A08CF7"/>
                </a:solidFill>
                <a:latin typeface="Calibri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8083296" y="2606040"/>
            <a:ext cx="182880" cy="182880"/>
          </a:xfrm>
          <a:prstGeom prst="ellipse">
            <a:avLst/>
          </a:prstGeom>
          <a:solidFill>
            <a:srgbClr val="A0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302752" y="2697480"/>
            <a:ext cx="1627632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83296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Expiry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3474720"/>
            <a:ext cx="1691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the certificate expires a week later; the engine reopens the file by itself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1965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EF5B52"/>
                </a:solidFill>
                <a:latin typeface="Calibri"/>
              </a:rPr>
              <a:t>6</a:t>
            </a:r>
          </a:p>
        </p:txBody>
      </p:sp>
      <p:sp>
        <p:nvSpPr>
          <p:cNvPr id="30" name="Oval 29"/>
          <p:cNvSpPr/>
          <p:nvPr/>
        </p:nvSpPr>
        <p:spPr>
          <a:xfrm>
            <a:off x="9966960" y="2606040"/>
            <a:ext cx="182880" cy="182880"/>
          </a:xfrm>
          <a:prstGeom prst="ellipse">
            <a:avLst/>
          </a:prstGeom>
          <a:solidFill>
            <a:srgbClr val="EF5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0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Insider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474720"/>
            <a:ext cx="1691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 staff phone change, then a credit check; the client says “No, I didn't”; file on 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EEF0F3"/>
                </a:solidFill>
                <a:latin typeface="Calibri"/>
              </a:rPr>
              <a:t>The credit decision stays human: the agent has no tool that approves credit.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Agent design: a hybrid by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Code where rules are certain, Claude where judgment is needed, people where it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2240279"/>
            <a:ext cx="201168" cy="201168"/>
          </a:xfrm>
          <a:prstGeom prst="ellipse">
            <a:avLst/>
          </a:prstGeom>
          <a:solidFill>
            <a:srgbClr val="EE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19" y="21671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Code always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9748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extraction with verified quotes, registry, rules, timers, expiry — deterministic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96596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44568" y="2240279"/>
            <a:ext cx="201168" cy="201168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0328" y="21671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Claude 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9748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next steps, email intent, escalation wording; 20 s budget per click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6" y="196596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66176" y="2240279"/>
            <a:ext cx="201168" cy="20116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1936" y="21671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Fails 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269748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errors or timeouts fall back to the scripted planner; a code safety net runs after Claude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59" y="4206240"/>
            <a:ext cx="201168" cy="201168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19" y="413308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Gate on every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66344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allowed by the rules or denied and logged (GATE-01/02/03)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39319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44568" y="4206240"/>
            <a:ext cx="201168" cy="201168"/>
          </a:xfrm>
          <a:prstGeom prst="ellipse">
            <a:avLst/>
          </a:prstGeom>
          <a:solidFill>
            <a:srgbClr val="A0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13308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Humans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66344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cards show only what differs; rulings become precedents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91856" y="39319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6176" y="4206240"/>
            <a:ext cx="201168" cy="201168"/>
          </a:xfrm>
          <a:prstGeom prst="ellipse">
            <a:avLst/>
          </a:prstGeom>
          <a:solidFill>
            <a:srgbClr val="EF5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31936" y="413308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EEF0F3"/>
                </a:solidFill>
                <a:latin typeface="Calibri"/>
              </a:rPr>
              <a:t>Learns safely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466344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3 similar rulings propose a check; backtested; a different person approves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A3AAB5"/>
                </a:solidFill>
                <a:latin typeface="Calibri"/>
              </a:rPr>
              <a:t>Measured live: 3.5–13 s per click, 0 fallbacks · every step logged as pipeline / claude / planner / safety-net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Tested, calibrated,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Evidence in the repo, reproducible offline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EEF0F3"/>
                </a:solidFill>
                <a:latin typeface="Calibri"/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16352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automated tests: the full demo, every rule
path, role leaks, tamper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43B884"/>
                </a:solidFill>
                <a:latin typeface="Calibri"/>
              </a:rPr>
              <a:t>8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82312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synthetic companies end on their intended
problem (one rule path each)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023360" y="1828800"/>
          <a:ext cx="40233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412480" y="192024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A08CF7"/>
                </a:solidFill>
                <a:latin typeface="Calibri"/>
              </a:rPr>
              <a:t>8 →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81635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false approvals of the learned address
check after small-town counterexamples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88620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5B86F7"/>
                </a:solidFill>
                <a:latin typeface="Calibri"/>
              </a:rPr>
              <a:t>390–2560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78231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pixel widths browser-tested, both apps,
no console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Reproducible in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FastAPI · SQLite event store · React bank app and client portal · Claude on Bedrock · Featherless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0B0D10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43B884"/>
                </a:solidFill>
                <a:latin typeface="Calibri"/>
              </a:rPr>
              <a:t>pip install -r requirements.txt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43B884"/>
                </a:solidFill>
                <a:latin typeface="Calibri"/>
              </a:rPr>
              <a:t>cd web &amp;&amp; npm ci &amp;&amp; npm run build &amp;&amp; cd 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43B884"/>
                </a:solidFill>
                <a:latin typeface="Calibri"/>
              </a:rPr>
              <a:t>python -m uvicorn app.main:app --app-dir backend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43B884"/>
                </a:solidFill>
                <a:latin typeface="Calibri"/>
              </a:rPr>
              <a:t># bank /   ·   client portal /client/</a:t>
            </a:r>
          </a:p>
        </p:txBody>
      </p:sp>
      <p:sp>
        <p:nvSpPr>
          <p:cNvPr id="6" name="Oval 5"/>
          <p:cNvSpPr/>
          <p:nvPr/>
        </p:nvSpPr>
        <p:spPr>
          <a:xfrm>
            <a:off x="6400800" y="2039112"/>
            <a:ext cx="182880" cy="182880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9659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Data stays in the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3500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one append-only table; PostgreSQL on-prem in production</a:t>
            </a:r>
          </a:p>
        </p:txBody>
      </p:sp>
      <p:sp>
        <p:nvSpPr>
          <p:cNvPr id="9" name="Oval 8"/>
          <p:cNvSpPr/>
          <p:nvPr/>
        </p:nvSpPr>
        <p:spPr>
          <a:xfrm>
            <a:off x="6400800" y="3063240"/>
            <a:ext cx="182880" cy="182880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99008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Bring your own document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374136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extractors are adapters; quotes are verified by code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087368"/>
            <a:ext cx="182880" cy="182880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014216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Privacy by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3982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client views are allow-lists; staff identities never reach clients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5111496"/>
            <a:ext cx="182880" cy="182880"/>
          </a:xfrm>
          <a:prstGeom prst="ellipse">
            <a:avLst/>
          </a:prstGeom>
          <a:solidFill>
            <a:srgbClr val="A0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5038344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All synthetic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42239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documents follow real ONRC / ANAF / F20 forms; tax IDs in an unassigned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8620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EEF0F3"/>
                </a:solidFill>
                <a:latin typeface="Calibri"/>
              </a:rPr>
              <a:t>Offline mode </a:t>
            </a:r>
            <a:r>
              <a:rPr sz="1600" b="0" i="0">
                <a:solidFill>
                  <a:srgbClr val="EEF0F3"/>
                </a:solidFill>
                <a:latin typeface="Calibri"/>
              </a:rPr>
              <a:t>(scripted planner, heuristic judge) runs the whole demo with no API keys. </a:t>
            </a:r>
            <a:r>
              <a:rPr sz="1600" b="1" i="0">
                <a:solidFill>
                  <a:srgbClr val="EEF0F3"/>
                </a:solidFill>
                <a:latin typeface="Calibri"/>
              </a:rPr>
              <a:t>Live mode </a:t>
            </a:r>
            <a:r>
              <a:rPr sz="1600" b="0" i="0">
                <a:solidFill>
                  <a:srgbClr val="EEF0F3"/>
                </a:solidFill>
                <a:latin typeface="Calibri"/>
              </a:rPr>
              <a:t>swaps in Claude and the Featherless judge with the same UI and the same ledger.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Romanian rules, in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Two templates on one engine: SME loan and KYB check · Annual business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848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848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CUI checksum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920240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848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0848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Company active in the trade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06624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7121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7121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Certificate under 30 days old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706624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7121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7121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Owners ≥25% match the register (Law 129/2019)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93008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57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57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An ID for every owner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93008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657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Same registered office everywhere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79392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43983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44398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Debt service coverage ≥ 1.2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279392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443983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86F7"/>
                </a:solidFill>
                <a:latin typeface="Calibri"/>
              </a:rPr>
              <a:t>HR-08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44398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No tax debts on the ANAF certificate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65776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23036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EF5B52"/>
                </a:solidFill>
                <a:latin typeface="Calibri"/>
              </a:rPr>
              <a:t>SR-01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303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Staff contact change → credit action in 48 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065776"/>
            <a:ext cx="5440680" cy="658368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23036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EF5B52"/>
                </a:solidFill>
                <a:latin typeface="Calibri"/>
              </a:rPr>
              <a:t>SR-02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52303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EF0F3"/>
                </a:solidFill>
                <a:latin typeface="Calibri"/>
              </a:rPr>
              <a:t>Client disputes a staff 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Judge questions JQ-01 (same address?) and JQ-02 (signatory = administrator?) decide only after the hard facts match.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Where it pays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The agent does the work between human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3566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5B86F7"/>
                </a:solidFill>
                <a:latin typeface="Calibri"/>
              </a:rPr>
              <a:t>100,000+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16352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active Smart Business SME clients at
Raiffeisen Romania (H1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3566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E8A93C"/>
                </a:solidFill>
                <a:latin typeface="Calibri"/>
              </a:rPr>
              <a:t>1 or 5 yrs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82312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AMLR periodic refresh by risk, from
July 2027: every SME, again and again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20240"/>
            <a:ext cx="7132320" cy="393192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14884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EEF0F3"/>
                </a:solidFill>
                <a:latin typeface="Calibri"/>
              </a:rPr>
              <a:t>Path to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788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43B88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807208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Shadow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20040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annual business reviews with one back-office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7490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43B884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767327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SME onboarding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1605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the full loan and KYB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7091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43B884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727448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EEF0F3"/>
                </a:solidFill>
                <a:latin typeface="Calibri"/>
              </a:rPr>
              <a:t>Same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1206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A3AAB5"/>
                </a:solidFill>
                <a:latin typeface="Calibri"/>
              </a:rPr>
              <a:t>garnishments (2.25M ANAF acts in H1 2025), DORA incident clocks, complaint deadlines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A3AAB5"/>
                </a:solidFill>
                <a:latin typeface="Calibri"/>
              </a:rPr>
              <a:t>Analysts see only files that need a decision · clean files finish on their own · every action is auditable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EEF0F3"/>
                </a:solidFill>
                <a:latin typeface="Calibri"/>
              </a:rPr>
              <a:t>Why it's new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5440680" cy="192024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1965960"/>
            <a:ext cx="274320" cy="274320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90195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EEF0F3"/>
                </a:solidFill>
                <a:latin typeface="Calibri"/>
              </a:rPr>
              <a:t>Time is first-class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the file is a ledger; rules run over sequences, not single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5440680" cy="192024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965960"/>
            <a:ext cx="274320" cy="274320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90195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EEF0F3"/>
                </a:solidFill>
                <a:latin typeface="Calibri"/>
              </a:rPr>
              <a:t>An agent that cannot overstep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a gate between plans and actions; credit decisions stay human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5440680" cy="192024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60520"/>
            <a:ext cx="274320" cy="274320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09651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EEF0F3"/>
                </a:solidFill>
                <a:latin typeface="Calibri"/>
              </a:rPr>
              <a:t>It learns from people, safely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rulings → precedents → backtested checks with maker-checker approval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794760"/>
            <a:ext cx="5440680" cy="1920240"/>
          </a:xfrm>
          <a:prstGeom prst="roundRect">
            <a:avLst>
              <a:gd name="adj" fmla="val 6000"/>
            </a:avLst>
          </a:prstGeom>
          <a:solidFill>
            <a:srgbClr val="1C1F26"/>
          </a:solidFill>
          <a:ln w="12700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60520"/>
            <a:ext cx="274320" cy="274320"/>
          </a:xfrm>
          <a:prstGeom prst="ellipse">
            <a:avLst/>
          </a:prstGeom>
          <a:solidFill>
            <a:srgbClr val="A0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09651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EEF0F3"/>
                </a:solidFill>
                <a:latin typeface="Calibri"/>
              </a:rPr>
              <a:t>One ledger, two audiences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916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A3AAB5"/>
                </a:solidFill>
                <a:latin typeface="Calibri"/>
              </a:rPr>
              <a:t>the bank and the client see the same file, each in their own words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1152144"/>
            <a:ext cx="5102352" cy="0"/>
          </a:xfrm>
          <a:prstGeom prst="line">
            <a:avLst/>
          </a:prstGeom>
          <a:ln w="12700">
            <a:solidFill>
              <a:srgbClr val="2E33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548640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16736" y="1097280"/>
            <a:ext cx="109728" cy="109728"/>
          </a:xfrm>
          <a:prstGeom prst="ellipse">
            <a:avLst/>
          </a:prstGeom>
          <a:solidFill>
            <a:srgbClr val="5B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00784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84831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68880" y="1097280"/>
            <a:ext cx="109728" cy="10972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52928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36976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21024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05072" y="1097280"/>
            <a:ext cx="109728" cy="10972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1097280"/>
            <a:ext cx="109728" cy="109728"/>
          </a:xfrm>
          <a:prstGeom prst="ellipse">
            <a:avLst/>
          </a:prstGeom>
          <a:noFill/>
          <a:ln w="25400">
            <a:solidFill>
              <a:srgbClr val="A3A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73168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57216" y="1097280"/>
            <a:ext cx="109728" cy="10972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41264" y="1097280"/>
            <a:ext cx="109728" cy="10972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EEF0F3"/>
                </a:solidFill>
                <a:latin typeface="Calibri"/>
              </a:rPr>
              <a:t>A 4-week shadow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834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0">
                <a:solidFill>
                  <a:srgbClr val="EEF0F3"/>
                </a:solidFill>
                <a:latin typeface="Calibri"/>
              </a:rPr>
              <a:t>on annual business reviews with one back-office team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931920"/>
            <a:ext cx="201168" cy="20116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40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EEF0F3"/>
                </a:solidFill>
                <a:latin typeface="Calibri"/>
              </a:rPr>
              <a:t>Plug in  </a:t>
            </a:r>
            <a:r>
              <a:rPr sz="2000" b="0" i="0">
                <a:solidFill>
                  <a:srgbClr val="A3AAB5"/>
                </a:solidFill>
                <a:latin typeface="Calibri"/>
              </a:rPr>
              <a:t>the bank's document AI and the ONRC / ANAF data feeds, on-prem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617720"/>
            <a:ext cx="201168" cy="20116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EEF0F3"/>
                </a:solidFill>
                <a:latin typeface="Calibri"/>
              </a:rPr>
              <a:t>Measure  </a:t>
            </a:r>
            <a:r>
              <a:rPr sz="2000" b="0" i="0">
                <a:solidFill>
                  <a:srgbClr val="A3AAB5"/>
                </a:solidFill>
                <a:latin typeface="Calibri"/>
              </a:rPr>
              <a:t>hours per file, days to complete, re-requests and audit findings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303520"/>
            <a:ext cx="201168" cy="201168"/>
          </a:xfrm>
          <a:prstGeom prst="ellipse">
            <a:avLst/>
          </a:prstGeom>
          <a:solidFill>
            <a:srgbClr val="43B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EEF0F3"/>
                </a:solidFill>
                <a:latin typeface="Calibri"/>
              </a:rPr>
              <a:t>Decide  </a:t>
            </a:r>
            <a:r>
              <a:rPr sz="2000" b="0" i="0">
                <a:solidFill>
                  <a:srgbClr val="A3AAB5"/>
                </a:solidFill>
                <a:latin typeface="Calibri"/>
              </a:rPr>
              <a:t>with numbers from the bank's own 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A3AAB5"/>
                </a:solidFill>
                <a:latin typeface="Calibri"/>
              </a:rPr>
              <a:t>OpenLoop · github.com/Petsteb/openloop-case-engine (private) · synthetic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